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2680e7cedb4f48" /><Relationship Type="http://schemas.openxmlformats.org/officeDocument/2006/relationships/extended-properties" Target="/docProps/app.xml" Id="R83133db0f3f94988" /><Relationship Type="http://schemas.openxmlformats.org/officeDocument/2006/relationships/officeDocument" Target="/ppt/presentation.xml" Id="Rbf8d1ad4eb164a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7d924a125547bd"/>
  </p:sldMasterIdLst>
  <p:notesMasterIdLst>
    <p:notesMasterId xmlns:r="http://schemas.openxmlformats.org/officeDocument/2006/relationships" r:id="R25aaa7d94b4a4fab"/>
  </p:notesMasterIdLst>
  <p:sldIdLst>
    <p:sldId xmlns:r="http://schemas.openxmlformats.org/officeDocument/2006/relationships" id="256" r:id="R5982a1218b3c412b"/>
    <p:sldId xmlns:r="http://schemas.openxmlformats.org/officeDocument/2006/relationships" id="257" r:id="R33868999300d409c"/>
    <p:sldId xmlns:r="http://schemas.openxmlformats.org/officeDocument/2006/relationships" id="258" r:id="R450def9684534ebf"/>
    <p:sldId xmlns:r="http://schemas.openxmlformats.org/officeDocument/2006/relationships" id="259" r:id="R28463448e9bc4531"/>
    <p:sldId xmlns:r="http://schemas.openxmlformats.org/officeDocument/2006/relationships" id="260" r:id="Rc405969f3b1942a4"/>
    <p:sldId xmlns:r="http://schemas.openxmlformats.org/officeDocument/2006/relationships" id="261" r:id="Rb630fb200ddd496b"/>
    <p:sldId xmlns:r="http://schemas.openxmlformats.org/officeDocument/2006/relationships" id="262" r:id="R8560c508c4fe4db8"/>
    <p:sldId xmlns:r="http://schemas.openxmlformats.org/officeDocument/2006/relationships" id="263" r:id="Rfdb1d92b9d734dc9"/>
    <p:sldId xmlns:r="http://schemas.openxmlformats.org/officeDocument/2006/relationships" id="264" r:id="R97a9062a4dcc44d7"/>
    <p:sldId xmlns:r="http://schemas.openxmlformats.org/officeDocument/2006/relationships" id="265" r:id="Recd99cb4408a47d0"/>
    <p:sldId xmlns:r="http://schemas.openxmlformats.org/officeDocument/2006/relationships" id="266" r:id="R921b95d3634a41d9"/>
    <p:sldId xmlns:r="http://schemas.openxmlformats.org/officeDocument/2006/relationships" id="267" r:id="R1a46f2da25d140e6"/>
    <p:sldId xmlns:r="http://schemas.openxmlformats.org/officeDocument/2006/relationships" id="268" r:id="Rbec58470bb89455a"/>
    <p:sldId xmlns:r="http://schemas.openxmlformats.org/officeDocument/2006/relationships" id="269" r:id="Rf5e2d6a1ffb040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d4092afc9743e8" /><Relationship Type="http://schemas.openxmlformats.org/officeDocument/2006/relationships/slideMaster" Target="/ppt/slideMasters/slideMaster1.xml" Id="R167d924a125547bd" /><Relationship Type="http://schemas.openxmlformats.org/officeDocument/2006/relationships/notesMaster" Target="/ppt/notesMasters/notesMaster1.xml" Id="R25aaa7d94b4a4fab" /><Relationship Type="http://schemas.openxmlformats.org/officeDocument/2006/relationships/presProps" Target="/ppt/presProps.xml" Id="R2459bf3abc664473" /><Relationship Type="http://schemas.openxmlformats.org/officeDocument/2006/relationships/tableStyles" Target="/ppt/tableStyles.xml" Id="Rde0bf4bcde2c40a3" /><Relationship Type="http://schemas.openxmlformats.org/officeDocument/2006/relationships/slide" Target="/ppt/slides/slide1.xml" Id="R5982a1218b3c412b" /><Relationship Type="http://schemas.openxmlformats.org/officeDocument/2006/relationships/slide" Target="/ppt/slides/slide2.xml" Id="R33868999300d409c" /><Relationship Type="http://schemas.openxmlformats.org/officeDocument/2006/relationships/slide" Target="/ppt/slides/slide3.xml" Id="R450def9684534ebf" /><Relationship Type="http://schemas.openxmlformats.org/officeDocument/2006/relationships/slide" Target="/ppt/slides/slide4.xml" Id="R28463448e9bc4531" /><Relationship Type="http://schemas.openxmlformats.org/officeDocument/2006/relationships/slide" Target="/ppt/slides/slide5.xml" Id="Rc405969f3b1942a4" /><Relationship Type="http://schemas.openxmlformats.org/officeDocument/2006/relationships/slide" Target="/ppt/slides/slide6.xml" Id="Rb630fb200ddd496b" /><Relationship Type="http://schemas.openxmlformats.org/officeDocument/2006/relationships/slide" Target="/ppt/slides/slide7.xml" Id="R8560c508c4fe4db8" /><Relationship Type="http://schemas.openxmlformats.org/officeDocument/2006/relationships/slide" Target="/ppt/slides/slide8.xml" Id="Rfdb1d92b9d734dc9" /><Relationship Type="http://schemas.openxmlformats.org/officeDocument/2006/relationships/slide" Target="/ppt/slides/slide9.xml" Id="R97a9062a4dcc44d7" /><Relationship Type="http://schemas.openxmlformats.org/officeDocument/2006/relationships/slide" Target="/ppt/slides/slide10.xml" Id="Recd99cb4408a47d0" /><Relationship Type="http://schemas.openxmlformats.org/officeDocument/2006/relationships/slide" Target="/ppt/slides/slide11.xml" Id="R921b95d3634a41d9" /><Relationship Type="http://schemas.openxmlformats.org/officeDocument/2006/relationships/slide" Target="/ppt/slides/slide12.xml" Id="R1a46f2da25d140e6" /><Relationship Type="http://schemas.openxmlformats.org/officeDocument/2006/relationships/slide" Target="/ppt/slides/slide13.xml" Id="Rbec58470bb89455a" /><Relationship Type="http://schemas.openxmlformats.org/officeDocument/2006/relationships/slide" Target="/ppt/slides/slide14.xml" Id="Rf5e2d6a1ffb040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5eec8731e84b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0a6140ab1846be" /><Relationship Type="http://schemas.openxmlformats.org/officeDocument/2006/relationships/notesMaster" Target="/ppt/notesMasters/notesMaster1.xml" Id="R3b98d60ee85149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1bc3709f1e41c6" /><Relationship Type="http://schemas.openxmlformats.org/officeDocument/2006/relationships/notesMaster" Target="/ppt/notesMasters/notesMaster1.xml" Id="Rfc14d4bc658245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904585ae8e4f57" /><Relationship Type="http://schemas.openxmlformats.org/officeDocument/2006/relationships/notesMaster" Target="/ppt/notesMasters/notesMaster1.xml" Id="R170d13bf2d6346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5b7b9a166c45eb" /><Relationship Type="http://schemas.openxmlformats.org/officeDocument/2006/relationships/notesMaster" Target="/ppt/notesMasters/notesMaster1.xml" Id="R9816d7ff84e94e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9e66f89e15419c" /><Relationship Type="http://schemas.openxmlformats.org/officeDocument/2006/relationships/notesMaster" Target="/ppt/notesMasters/notesMaster1.xml" Id="R808d3147dbab45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29b0c1a43c49c0" /><Relationship Type="http://schemas.openxmlformats.org/officeDocument/2006/relationships/notesMaster" Target="/ppt/notesMasters/notesMaster1.xml" Id="R6d31e24a4f574b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86f64d905a475a" /><Relationship Type="http://schemas.openxmlformats.org/officeDocument/2006/relationships/notesMaster" Target="/ppt/notesMasters/notesMaster1.xml" Id="Ra4d53f5e8a3245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11f80ae1644182" /><Relationship Type="http://schemas.openxmlformats.org/officeDocument/2006/relationships/notesMaster" Target="/ppt/notesMasters/notesMaster1.xml" Id="Ra1c98242833a46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0e3c965cd64fa5" /><Relationship Type="http://schemas.openxmlformats.org/officeDocument/2006/relationships/notesMaster" Target="/ppt/notesMasters/notesMaster1.xml" Id="R52cb35cdb5374e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e4a5c6c77349e6" /><Relationship Type="http://schemas.openxmlformats.org/officeDocument/2006/relationships/notesMaster" Target="/ppt/notesMasters/notesMaster1.xml" Id="Rd7f3b70d566741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9491a97f894bea" /><Relationship Type="http://schemas.openxmlformats.org/officeDocument/2006/relationships/notesMaster" Target="/ppt/notesMasters/notesMaster1.xml" Id="R080dc691bf9f41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be5792afdc4827" /><Relationship Type="http://schemas.openxmlformats.org/officeDocument/2006/relationships/notesMaster" Target="/ppt/notesMasters/notesMaster1.xml" Id="R7efb2eb826a747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e85713aa7f45ec" /><Relationship Type="http://schemas.openxmlformats.org/officeDocument/2006/relationships/notesMaster" Target="/ppt/notesMasters/notesMaster1.xml" Id="R19868f2e943449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af5c5facb54a48" /><Relationship Type="http://schemas.openxmlformats.org/officeDocument/2006/relationships/notesMaster" Target="/ppt/notesMasters/notesMaster1.xml" Id="R0effff2367b64a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sistema auxiliar. Todos os exemplos do treinamento são fictícios. O piloto ainda depende de homologação institucional.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com os controles que a equipe realmente utiliza hoje, sem assumir que todas as unidades usam o mesmo processo. O sistema reúne informações e preserva a decisão administrativa.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uma mesma conta pode ter vários perfis e CNES. Antes de operar, confira o contexto no menu. A visão administrativa não representa a permissão do RH.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Imagem: docs/imagens/perfis-bloco08.jpg.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Entrar no SGF. Explique a espera mínima de três segundos entre tentativas, sem bloqueio cumulativo. Nunca compartilhe senha nem projete credenciais.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Imagem: docs/imagens/login-tablet-bloco08.png.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a modalidade e a data desejada. Leia a legenda. Os cálculos do piloto dependem de homologação normativa. Saldo informado não é saldo autorizado.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Imagem: docs/imagens/simulacao-bloco08.png.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Exemplo: segunda e quarta na UBS Alcides Braz, terça e quinta na UBS Alterosas. O sistema usa um responsável por dia. Não divide horas entre unidades no mesmo dia.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Imagem: docs/imagens/distribuicao-bloco08.jpg.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a situação Enviada e as unidades responsáveis. O comprovante sozinho não autoriza o afastamento. A formalização segue o procedimento da unidade.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Imagem: docs/imagens/protocolo-moderno-bloco08.jpg.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as ações separadas. Cada CNES analisa seus dias. Na folga por banco de horas, a inclusão realiza o débito uma vez por matrícula. O cancelamento preserva o histórico e estorna eventual débito.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Imagem: docs/imagens/aprovacao-rh-bloco08.jpg.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Escala, selecione mês e CNES. Mostre início, fim, retorno, feriado, day-off e conflitos. Não interprete uma previsão como afastamento confirmado.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Imagem: docs/imagens/calendario-moderno-bloco08.jpg.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a escala nominal e diferencie sugestão de gravação. Explique que histórico auxilia o planejamento. Conflitos manuais têm formulário próprio e justificativa obrigatória. Não salve mudanças em dados reais durante treinamento.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explicado, sem cadastrar feriado real no treinamento. O início e a quantidade do período compatível permanecem. Casos ambíguos requerem revisão. Day-off de aniversário aparece no calendário como direito, sem solicitação separada.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Imagem: docs/imagens/feriados-bloco08.png.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polo opcional, os tipos eSF/eMulti/eSB/eAPP/eCR e o filtro de equipes pela unidade. Lotação interna se aplica às subdivisões de Secretaria. Equipes usam nome e número, sem INE.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a trilha do pedido fictício. Não atribua a registros antigos uma autoria que não existe. O piloto não substitui aprovação jurídica ou política institucional de tratamento dos dados.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Reserve cinco minutos para perguntas. Use o guia de homologação para registrar resultado, evidência, executor e aceite. Em dúvida normativa, consulte a referência vigente indicada pelo RH e procure o RH.</a:t>
            </a:r>
          </a:p>
          <a:p xmlns:a="http://schemas.openxmlformats.org/drawingml/2006/main">
            <a:r>
              <a:t>Fonte: SGF, docs/MANUAL_USO.md e docs/ROTEIRO_APRESENTACAO.md, versão 09/10/2026. Capturas do site https://sgfbetim.vercel.app/.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dc6651ab645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c113bad004d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f84fbcdc443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fdddf84e34f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d6afa480a47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a180aa22f4b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47B7E0-8A87-4410-9ADF-A1CD90757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A87DB0-481D-47EE-B227-8EF6966108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3E5DB1-B1B4-49E4-89D2-F2123B549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C76FAD-0F44-479B-913F-3F2BF733BE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AA1F32-6D55-4BB6-8723-4A6FF48DF6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06A5B4-BDCD-4E21-B83C-BCE343B5A9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43F51A-2DFE-435B-8713-200E063D3C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975A52-5901-48DB-883A-7DD725317D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B99A20-C9DE-4370-928F-241EE3B25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16BA86-CD8A-4EE4-992F-FD3DE228F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cc11775e584c19" /><Relationship Type="http://schemas.openxmlformats.org/officeDocument/2006/relationships/slideLayout" Target="/ppt/slideLayouts/slideLayout1.xml" Id="Rab3821398606476b" /><Relationship Type="http://schemas.openxmlformats.org/officeDocument/2006/relationships/slideLayout" Target="/ppt/slideLayouts/slideLayout2.xml" Id="Rfa0be679948e4a97" /><Relationship Type="http://schemas.openxmlformats.org/officeDocument/2006/relationships/slideLayout" Target="/ppt/slideLayouts/slideLayout3.xml" Id="R0e952c5e51804405" /><Relationship Type="http://schemas.openxmlformats.org/officeDocument/2006/relationships/slideLayout" Target="/ppt/slideLayouts/slideLayout4.xml" Id="R90ec06bc58ed47e0" /><Relationship Type="http://schemas.openxmlformats.org/officeDocument/2006/relationships/slideLayout" Target="/ppt/slideLayouts/slideLayout5.xml" Id="R539e3287c48d4cf5" /><Relationship Type="http://schemas.openxmlformats.org/officeDocument/2006/relationships/slideLayout" Target="/ppt/slideLayouts/slideLayout6.xml" Id="R2d56ed00b31748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3821398606476b"/>
    <p:sldLayoutId xmlns:r="http://schemas.openxmlformats.org/officeDocument/2006/relationships" id="2147483650" r:id="Rfa0be679948e4a97"/>
    <p:sldLayoutId xmlns:r="http://schemas.openxmlformats.org/officeDocument/2006/relationships" id="2147483651" r:id="R0e952c5e51804405"/>
    <p:sldLayoutId xmlns:r="http://schemas.openxmlformats.org/officeDocument/2006/relationships" id="2147483652" r:id="R90ec06bc58ed47e0"/>
    <p:sldLayoutId xmlns:r="http://schemas.openxmlformats.org/officeDocument/2006/relationships" id="2147483653" r:id="R539e3287c48d4cf5"/>
    <p:sldLayoutId xmlns:r="http://schemas.openxmlformats.org/officeDocument/2006/relationships" id="2147483654" r:id="R2d56ed00b31748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cc4b82879549f4" /><Relationship Type="http://schemas.openxmlformats.org/officeDocument/2006/relationships/notesSlide" Target="/ppt/notesSlides/notesSlide1.xml" Id="R07e48f96988f43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d883bb0b041bb" /><Relationship Type="http://schemas.openxmlformats.org/officeDocument/2006/relationships/notesSlide" Target="/ppt/notesSlides/notesSlide2.xml" Id="R1bdee947fbc04b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a53d7e3ba447d" /><Relationship Type="http://schemas.openxmlformats.org/officeDocument/2006/relationships/image" Target="/ppt/media/image.jpeg" Id="Rf1d641317da74684" /><Relationship Type="http://schemas.openxmlformats.org/officeDocument/2006/relationships/notesSlide" Target="/ppt/notesSlides/notesSlide3.xml" Id="R44c70a95a7c242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e4ac23dc38431e" /><Relationship Type="http://schemas.openxmlformats.org/officeDocument/2006/relationships/image" Target="/ppt/media/image2.jpeg" Id="R8799c90c28d44937" /><Relationship Type="http://schemas.openxmlformats.org/officeDocument/2006/relationships/notesSlide" Target="/ppt/notesSlides/notesSlide4.xml" Id="Ra23cec5dacf044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75d979e854e4f" /><Relationship Type="http://schemas.openxmlformats.org/officeDocument/2006/relationships/image" Target="/ppt/media/image3.jpeg" Id="Rda3f1200384a4f8d" /><Relationship Type="http://schemas.openxmlformats.org/officeDocument/2006/relationships/notesSlide" Target="/ppt/notesSlides/notesSlide5.xml" Id="Rb4ea8bf7159844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cbf22884c407e" /><Relationship Type="http://schemas.openxmlformats.org/officeDocument/2006/relationships/image" Target="/ppt/media/image4.jpeg" Id="R0373be5114814390" /><Relationship Type="http://schemas.openxmlformats.org/officeDocument/2006/relationships/notesSlide" Target="/ppt/notesSlides/notesSlide6.xml" Id="R70bc235c45944a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45a68d4aa49b5" /><Relationship Type="http://schemas.openxmlformats.org/officeDocument/2006/relationships/image" Target="/ppt/media/image5.jpeg" Id="R19eb45161cf94f05" /><Relationship Type="http://schemas.openxmlformats.org/officeDocument/2006/relationships/notesSlide" Target="/ppt/notesSlides/notesSlide7.xml" Id="R3eb97f79afbd44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c5837773c4e9e" /><Relationship Type="http://schemas.openxmlformats.org/officeDocument/2006/relationships/image" Target="/ppt/media/image6.jpeg" Id="Rd5b4c955f3534288" /><Relationship Type="http://schemas.openxmlformats.org/officeDocument/2006/relationships/notesSlide" Target="/ppt/notesSlides/notesSlide8.xml" Id="R2575d7211ab648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8b9da4e6c415d" /><Relationship Type="http://schemas.openxmlformats.org/officeDocument/2006/relationships/image" Target="/ppt/media/image7.jpeg" Id="Rc08eefd9d17b4ab7" /><Relationship Type="http://schemas.openxmlformats.org/officeDocument/2006/relationships/notesSlide" Target="/ppt/notesSlides/notesSlide9.xml" Id="Rdbfc2e2fd4824a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2c5d1bf7f4e73" /><Relationship Type="http://schemas.openxmlformats.org/officeDocument/2006/relationships/notesSlide" Target="/ppt/notesSlides/notesSlide10.xml" Id="Rc5ac16e373af45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caf02bf4464aa2" /><Relationship Type="http://schemas.openxmlformats.org/officeDocument/2006/relationships/image" Target="/ppt/media/image8.jpeg" Id="Ra8fa0027ac4b4bb3" /><Relationship Type="http://schemas.openxmlformats.org/officeDocument/2006/relationships/notesSlide" Target="/ppt/notesSlides/notesSlide11.xml" Id="Rd516f28439d04b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37d3af93704129" /><Relationship Type="http://schemas.openxmlformats.org/officeDocument/2006/relationships/notesSlide" Target="/ppt/notesSlides/notesSlide12.xml" Id="Rfc91a45035ab49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bbcce7598e4a11" /><Relationship Type="http://schemas.openxmlformats.org/officeDocument/2006/relationships/notesSlide" Target="/ppt/notesSlides/notesSlide13.xml" Id="Rf4fc9b95c9f34b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737ff11794350" /><Relationship Type="http://schemas.openxmlformats.org/officeDocument/2006/relationships/notesSlide" Target="/ppt/notesSlides/notesSlide14.xml" Id="Ra19785538cbe4d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C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C1901-89B7-4112-98AD-8F2E8255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SGF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Férias e folgas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981FA-92A4-49C2-B5D8-532E04A4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Treinamento de uso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Prefeitura Municipal de Betim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TI, servidores e gestores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AE401-F315-4781-AAF0-918CB8EE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6C3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E6C3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6C37D"/>
                </a:solidFill>
                <a:latin typeface="Arial"/>
                <a:ea typeface="Arial"/>
                <a:cs typeface="Arial"/>
              </a:rPr>
              <a:t>Homologação com dados fictícios</a:t>
            </a:r>
          </a:p>
        </p:txBody>
      </p:sp>
    </p:spTree>
    <p:extLst>
      <p:ext uri="{BB962C8B-B14F-4D97-AF65-F5344CB8AC3E}">
        <p14:creationId xmlns:p14="http://schemas.microsoft.com/office/powerpoint/2010/main" val="726349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9BB94-DA32-46AC-9C80-A88747B3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Organização do trabalho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34A53-3D38-4B88-B4BC-CF0497C3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Pedido com protocolo e acompanhamento.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Calendário compartilhado por unidade.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Decisões com autoria e histórico.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E5DDF-1364-4A8B-B2CA-DCE01354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5718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A3E56-AEF2-4EB8-B4B6-5A9D9E6A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Perfis e contextos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ADC5D-3D8B-437E-A9B5-BA900CCA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667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Servidor: solicita por matrícula.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Diretor e RH: atuam no contexto autorizado.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Administrador: mantém acessos e estrutura.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10B54-00E0-4541-9059-1EB92B96BA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641317da74684"/>
          <a:srcRect xmlns:a="http://schemas.openxmlformats.org/drawingml/2006/main" l="20000" t="13000" r="20000" b="6000"/>
          <a:stretch xmlns:a="http://schemas.openxmlformats.org/drawingml/2006/main"/>
        </p:blipFill>
        <p:spPr>
          <a:xfrm xmlns:a="http://schemas.openxmlformats.org/drawingml/2006/main">
            <a:off x="5200733" y="1485900"/>
            <a:ext cx="583866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64FD7-D855-46F4-8BE5-A99CC268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61250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254E3-E427-48B5-A778-55082C3A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Entrada e primeiro acesso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D7556-C798-4B56-B929-1C961AC5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667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Login por CPF ou e-mail.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Conta aprovada: senha provisória 123456 e troca obrigatória.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Recuperação pelo e-mail cadastrado.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5896C-3C74-48CB-976E-2DFA8D3934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9c90c28d44937"/>
          <a:stretch xmlns:a="http://schemas.openxmlformats.org/drawingml/2006/main"/>
        </p:blipFill>
        <p:spPr>
          <a:xfrm xmlns:a="http://schemas.openxmlformats.org/drawingml/2006/main">
            <a:off x="6369844" y="1485900"/>
            <a:ext cx="3500438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A9408-D71D-40EE-94BC-B060073A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8978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FFA1F-97FB-49C3-B715-DA1DF713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Simulação rápida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F8B10-0980-4EFF-808A-4D4CA536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667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Planejamento sem cadastro.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Confira início, fim 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A simulação não registra pedido.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AE397-3DF0-40BF-8E1A-DA7678FF8A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f1200384a4f8d"/>
          <a:srcRect xmlns:a="http://schemas.openxmlformats.org/drawingml/2006/main" l="20000" t="32000" r="20000" b="12000"/>
          <a:stretch xmlns:a="http://schemas.openxmlformats.org/drawingml/2006/main"/>
        </p:blipFill>
        <p:spPr>
          <a:xfrm xmlns:a="http://schemas.openxmlformats.org/drawingml/2006/main">
            <a:off x="4746766" y="1485900"/>
            <a:ext cx="6746594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81164-506F-4D68-9586-8F4F0628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1132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631D3-15C8-4B08-A8F3-42843D6A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Dias e unidades responsáveis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8B0B8-7A5F-4FF7-A30E-50971175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667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Escolha a matrícula e a modalidade.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Confira os dados e as datas.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Atribua um CNES a cada dia útil.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CCB3C-481C-4871-B6C6-8D23381923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3be5114814390"/>
          <a:srcRect xmlns:a="http://schemas.openxmlformats.org/drawingml/2006/main" l="20000" t="60000" r="20000" b="11000"/>
          <a:stretch xmlns:a="http://schemas.openxmlformats.org/drawingml/2006/main"/>
        </p:blipFill>
        <p:spPr>
          <a:xfrm xmlns:a="http://schemas.openxmlformats.org/drawingml/2006/main">
            <a:off x="4793588" y="1485900"/>
            <a:ext cx="6652948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51179-6A58-44F2-83EB-162FE68E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09573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65AFA-A0B5-4B75-A80C-820430DF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Protocolo e comprovante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62FCA-39ED-44EF-B3F7-4F0E8998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667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Meus pedidos mostra o andamento.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O comprovante registra a solicitação.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Assinam servidor e RH ou chefia que autorizou.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EC741-134B-4343-B224-90DF3A17A6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45161cf94f05"/>
          <a:srcRect xmlns:a="http://schemas.openxmlformats.org/drawingml/2006/main" l="20000" t="39000" r="20000" b="15000"/>
          <a:stretch xmlns:a="http://schemas.openxmlformats.org/drawingml/2006/main"/>
        </p:blipFill>
        <p:spPr>
          <a:xfrm xmlns:a="http://schemas.openxmlformats.org/drawingml/2006/main">
            <a:off x="4816045" y="1485900"/>
            <a:ext cx="6608035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8CCBD-33B5-481C-AD04-BD726435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94121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2533A-C1DD-4867-8E2D-C129F505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Decisão por CNES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01509-258B-490A-813C-9877933B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667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Aprovar registra a decisão.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Recusar exige motivo e justificativa.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Adicionar ao Calendário confirma os dias daquela unidade.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97A45-C128-4DD1-A202-F239374AFD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4c955f3534288"/>
          <a:srcRect xmlns:a="http://schemas.openxmlformats.org/drawingml/2006/main" l="20000" t="35000" r="20000" b="17000"/>
          <a:stretch xmlns:a="http://schemas.openxmlformats.org/drawingml/2006/main"/>
        </p:blipFill>
        <p:spPr>
          <a:xfrm xmlns:a="http://schemas.openxmlformats.org/drawingml/2006/main">
            <a:off x="5150023" y="1485900"/>
            <a:ext cx="594008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22475-7381-430B-8D73-49552E41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252002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5E2A1-22A7-42A9-A966-8407E2EB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Calendário da escala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F6C6-9F08-4CAE-96D6-0744AE05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667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Linhas por servidor, colunas por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Use filtros e leia a legenda.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Planejamento e confirmação têm estados próprios.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0E6E8-B1FF-429D-A35C-EDD9DF66FC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eefd9d17b4ab7"/>
          <a:srcRect xmlns:a="http://schemas.openxmlformats.org/drawingml/2006/main" l="24000" t="40000" r="23000" b="46000"/>
          <a:stretch xmlns:a="http://schemas.openxmlformats.org/drawingml/2006/main"/>
        </p:blipFill>
        <p:spPr>
          <a:xfrm xmlns:a="http://schemas.openxmlformats.org/drawingml/2006/main">
            <a:off x="4667250" y="1963320"/>
            <a:ext cx="6905625" cy="37124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911A1-67C1-4A75-AB0F-4577E3F4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427363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1C618-B4CC-460B-87F0-653447BC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Escala mínima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FB9D2-9029-40C6-8983-050EFD69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Organização por cargo, equipe, função e nome.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Sugestão a partir do ciclo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RH revisa e salva a escala de cada dia.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A91D5-8381-429F-A691-6BE4DE58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61876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38389-8291-47D7-BFCF-74C86E18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Feriados e avisos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1689B-6AC1-4829-8BD1-932DA68B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667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Alterações podem mudar o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Confira os novos dias e responsáveis.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Servidor e gestores recebem avisos internos.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DE424-62CD-4B2F-A562-C647B4423D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a0027ac4b4bb3"/>
          <a:stretch xmlns:a="http://schemas.openxmlformats.org/drawingml/2006/main"/>
        </p:blipFill>
        <p:spPr>
          <a:xfrm xmlns:a="http://schemas.openxmlformats.org/drawingml/2006/main">
            <a:off x="4667250" y="2201019"/>
            <a:ext cx="6905625" cy="323701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87677-F703-4204-90F9-1DBC1CF5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1128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5B1AA-E987-47E8-9D6E-2291587E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Cadastro e vínculos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F6E47-F471-46F2-8D35-F78E59E3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Pessoa identificada por CPF e e-mail.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Matrículas com unidades autorizadoras.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Uma equipe por CNES ou Não se aplica.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62A17-192A-4C55-B4D3-5EDD9EEC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5696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45A38-4B8F-48FB-BF1B-325CB362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Histórico e uso responsável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5433D-3502-4383-912F-B0E5511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Ações registram quem as realizou.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Dados e decisões precisam de conferência.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Normas e retenção dependem de aceite institucional.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1694E-10F8-4A04-9509-7892A7C4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073939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1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6628F-D2B0-44B6-B3CA-7729EBCC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2F"/>
                </a:solidFill>
                <a:latin typeface="Arial"/>
                <a:ea typeface="Arial"/>
                <a:cs typeface="Arial"/>
              </a:rPr>
              <a:t>Exercício e suporte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FA93F-0494-4D00-9267-2741E5A7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Envie um pedido fictício com dois CNES.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Confira decisão e calendário em cada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23C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2F"/>
                </a:solidFill>
                <a:latin typeface="Arial"/>
                <a:ea typeface="Arial"/>
                <a:cs typeface="Arial"/>
              </a:rPr>
              <a:t>Direitos: RH. Sistema: Administradores ou TI.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08682-012F-436E-B74A-022B46D3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71381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2026-10-09T18:44:02.5040000Z</dcterms:created>
  <dcterms:modified xsi:type="dcterms:W3CDTF">2026-10-09T18:44:02.5040000Z</dcterms:modified>
</coreProperties>
</file>